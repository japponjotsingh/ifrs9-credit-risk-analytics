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IFRS 9 Credit Risk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Portfolio Analysis &amp; ECL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1E1E"/>
                </a:solidFill>
              </a:defRPr>
            </a:pPr>
            <a:r>
              <a:t>Portfolio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8288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Total Loans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28090"/>
                </a:solidFill>
              </a:defRPr>
            </a:pPr>
            <a:r>
              <a:t>5,000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loans analyzed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371600"/>
            <a:ext cx="18288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508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Total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828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28090"/>
                </a:solidFill>
              </a:defRPr>
            </a:pPr>
            <a:r>
              <a:t>$259.5M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outstanding balance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371600"/>
            <a:ext cx="18288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08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Total ECL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828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28090"/>
                </a:solidFill>
              </a:defRPr>
            </a:pPr>
            <a:r>
              <a:t>$6.7M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expected 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371600"/>
            <a:ext cx="182880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508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Coverage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828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28090"/>
                </a:solidFill>
              </a:defRPr>
            </a:pPr>
            <a:r>
              <a:t>2.57%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ECL/Exposure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E1E1E"/>
                </a:solidFill>
              </a:defRPr>
            </a:pPr>
            <a:r>
              <a:t>Portfolio maintains healthy risk profile with low default rate of 2.1% while actively monitoring 47.3% of loans in Stage 2 for early 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1E1E"/>
                </a:solidFill>
              </a:defRPr>
            </a:pPr>
            <a:r>
              <a:t>IFRS 9 Staging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37160" cy="548640"/>
          </a:xfrm>
          <a:prstGeom prst="rect">
            <a:avLst/>
          </a:prstGeom>
          <a:solidFill>
            <a:srgbClr val="2ED57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</a:defRPr>
            </a:pPr>
            <a:r>
              <a:t>Stage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Performing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2,531 loans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50.6% of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0.26%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40279"/>
            <a:ext cx="137160" cy="548640"/>
          </a:xfrm>
          <a:prstGeom prst="rect">
            <a:avLst/>
          </a:prstGeom>
          <a:solidFill>
            <a:srgbClr val="FF9F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</a:defRPr>
            </a:pPr>
            <a: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7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SICR Detected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2,366 loans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47.3% of portfolio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4.92%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54679"/>
            <a:ext cx="137160" cy="548640"/>
          </a:xfrm>
          <a:prstGeom prst="rect">
            <a:avLst/>
          </a:prstGeom>
          <a:solidFill>
            <a:srgbClr val="FF475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</a:defRPr>
            </a:pPr>
            <a: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7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004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103 loans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004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2.1% of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004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12.31%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✓ Low default rate (2.1% in Stage 3)</a:t>
            </a:r>
          </a:p>
          <a:p>
            <a:r>
              <a:t>✓ Proactive monitoring of 47.3% portfolio in Stage 2</a:t>
            </a:r>
          </a:p>
          <a:p>
            <a:r>
              <a:t>✓ Coverage ratios aligned with risk levels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1E1E"/>
                </a:solidFill>
              </a:defRPr>
            </a:pPr>
            <a:r>
              <a:t>Risk by Product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828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00" b="1">
                <a:solidFill>
                  <a:srgbClr val="1E1E1E"/>
                </a:solidFill>
              </a:defRPr>
            </a:pPr>
            <a:r>
              <a:t>Credit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188720"/>
            <a:ext cx="4572000" cy="365760"/>
          </a:xfrm>
          <a:prstGeom prst="rect">
            <a:avLst/>
          </a:prstGeom>
          <a:solidFill>
            <a:srgbClr val="FF475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0" y="1097280"/>
            <a:ext cx="7315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14.26%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097280"/>
            <a:ext cx="2743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Highest risk - unsecured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828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00" b="1">
                <a:solidFill>
                  <a:srgbClr val="1E1E1E"/>
                </a:solidFill>
              </a:defRPr>
            </a:pPr>
            <a:r>
              <a:t>SME Loan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74519"/>
            <a:ext cx="2798987" cy="365760"/>
          </a:xfrm>
          <a:prstGeom prst="rect">
            <a:avLst/>
          </a:prstGeom>
          <a:solidFill>
            <a:srgbClr val="FF9F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3627" y="1783080"/>
            <a:ext cx="7315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8.73%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6587" y="1783080"/>
            <a:ext cx="2743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Business concentration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1828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00" b="1">
                <a:solidFill>
                  <a:srgbClr val="1E1E1E"/>
                </a:solidFill>
              </a:defRPr>
            </a:pPr>
            <a:r>
              <a:t>Personal Loan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560320"/>
            <a:ext cx="2741276" cy="365760"/>
          </a:xfrm>
          <a:prstGeom prst="rect">
            <a:avLst/>
          </a:prstGeom>
          <a:solidFill>
            <a:srgbClr val="FF9F4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5916" y="2468880"/>
            <a:ext cx="7315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8.55%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8876" y="2468880"/>
            <a:ext cx="2743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Unsecured consumer debt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1828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00" b="1">
                <a:solidFill>
                  <a:srgbClr val="1E1E1E"/>
                </a:solidFill>
              </a:defRPr>
            </a:pPr>
            <a:r>
              <a:t>Auto Loan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3246120"/>
            <a:ext cx="1234375" cy="365760"/>
          </a:xfrm>
          <a:prstGeom prst="rect">
            <a:avLst/>
          </a:prstGeom>
          <a:solidFill>
            <a:srgbClr val="2ED57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15" y="3154680"/>
            <a:ext cx="7315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3.85%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1975" y="3154680"/>
            <a:ext cx="2743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Secured by collateral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1828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400" b="1">
                <a:solidFill>
                  <a:srgbClr val="1E1E1E"/>
                </a:solidFill>
              </a:defRPr>
            </a:pPr>
            <a:r>
              <a:t>Mortgage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931920"/>
            <a:ext cx="593141" cy="365760"/>
          </a:xfrm>
          <a:prstGeom prst="rect">
            <a:avLst/>
          </a:prstGeom>
          <a:solidFill>
            <a:srgbClr val="2ED57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7781" y="3840480"/>
            <a:ext cx="7315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1.85%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0741" y="3840480"/>
            <a:ext cx="27432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Lowest risk - strong collateral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1E1E"/>
                </a:solidFill>
              </a:defRPr>
            </a:pPr>
            <a:r>
              <a:t>Credit Quality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1E1E"/>
                </a:solidFill>
              </a:defRPr>
            </a:pPr>
            <a:r>
              <a:t>Fair (650-699)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1887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1,158 loans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090"/>
                </a:solidFill>
              </a:defRPr>
            </a:pPr>
            <a:r>
              <a:t>23.2%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188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Largest 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1E1E"/>
                </a:solidFill>
              </a:defRPr>
            </a:pPr>
            <a:r>
              <a:t>Good (700-749)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7451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1,002 loans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090"/>
                </a:solidFill>
              </a:defRPr>
            </a:pPr>
            <a:r>
              <a:t>20.0%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87451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Strong 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1E1E"/>
                </a:solidFill>
              </a:defRPr>
            </a:pPr>
            <a:r>
              <a:t>Excellent (750+)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60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1,034 loans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090"/>
                </a:solidFill>
              </a:defRPr>
            </a:pPr>
            <a:r>
              <a:t>20.7%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560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Premium credit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1E1E"/>
                </a:solidFill>
              </a:defRPr>
            </a:pPr>
            <a:r>
              <a:t>Poor (600-649)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461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950 loans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461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090"/>
                </a:solidFill>
              </a:defRPr>
            </a:pPr>
            <a:r>
              <a:t>19.0%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246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Watch closely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1E1E"/>
                </a:solidFill>
              </a:defRPr>
            </a:pPr>
            <a:r>
              <a:t>Very Poor (&lt;600)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9319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1E1E"/>
                </a:solidFill>
              </a:defRPr>
            </a:pPr>
            <a:r>
              <a:t>851 loans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31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28090"/>
                </a:solidFill>
              </a:defRPr>
            </a:pPr>
            <a:r>
              <a:t>17.0%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931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High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1E1E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3" name="Parallelogram 2"/>
          <p:cNvSpPr/>
          <p:nvPr/>
        </p:nvSpPr>
        <p:spPr>
          <a:xfrm>
            <a:off x="640080" y="1188720"/>
            <a:ext cx="137160" cy="137160"/>
          </a:xfrm>
          <a:prstGeom prst="parallelogram">
            <a:avLst/>
          </a:prstGeom>
          <a:solidFill>
            <a:srgbClr val="00A89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</a:defRPr>
            </a:pPr>
            <a:r>
              <a:t>Portfolio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1E1E"/>
                </a:solidFill>
              </a:defRPr>
            </a:pPr>
            <a:r>
              <a:t>Low default rate of 2.1% indicates effective underwriting and credit management</a:t>
            </a:r>
          </a:p>
        </p:txBody>
      </p:sp>
      <p:sp>
        <p:nvSpPr>
          <p:cNvPr id="6" name="Parallelogram 5"/>
          <p:cNvSpPr/>
          <p:nvPr/>
        </p:nvSpPr>
        <p:spPr>
          <a:xfrm>
            <a:off x="640080" y="1920240"/>
            <a:ext cx="137160" cy="137160"/>
          </a:xfrm>
          <a:prstGeom prst="parallelogram">
            <a:avLst/>
          </a:prstGeom>
          <a:solidFill>
            <a:srgbClr val="00A89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</a:defRPr>
            </a:pPr>
            <a:r>
              <a:t>Proactive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1E1E"/>
                </a:solidFill>
              </a:defRPr>
            </a:pPr>
            <a:r>
              <a:t>47.3% of portfolio in Stage 2 shows early detection of credit deterioration</a:t>
            </a:r>
          </a:p>
        </p:txBody>
      </p:sp>
      <p:sp>
        <p:nvSpPr>
          <p:cNvPr id="9" name="Parallelogram 8"/>
          <p:cNvSpPr/>
          <p:nvPr/>
        </p:nvSpPr>
        <p:spPr>
          <a:xfrm>
            <a:off x="640080" y="2651760"/>
            <a:ext cx="137160" cy="137160"/>
          </a:xfrm>
          <a:prstGeom prst="parallelogram">
            <a:avLst/>
          </a:prstGeom>
          <a:solidFill>
            <a:srgbClr val="00A89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</a:defRPr>
            </a:pPr>
            <a:r>
              <a:t>Product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1E1E"/>
                </a:solidFill>
              </a:defRPr>
            </a:pPr>
            <a:r>
              <a:t>Credit Card segment (14.26% ECL) requires targeted risk mitigation strategies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640080" y="3383280"/>
            <a:ext cx="137160" cy="137160"/>
          </a:xfrm>
          <a:prstGeom prst="parallelogram">
            <a:avLst/>
          </a:prstGeom>
          <a:solidFill>
            <a:srgbClr val="00A89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</a:defRPr>
            </a:pPr>
            <a:r>
              <a:t>Credit 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1E1E"/>
                </a:solidFill>
              </a:defRPr>
            </a:pPr>
            <a:r>
              <a:t>Fair credit segment (23.2%) represents middle-market opportunity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640080" y="4114800"/>
            <a:ext cx="137160" cy="137160"/>
          </a:xfrm>
          <a:prstGeom prst="parallelogram">
            <a:avLst/>
          </a:prstGeom>
          <a:solidFill>
            <a:srgbClr val="00A89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28090"/>
                </a:solidFill>
              </a:defRPr>
            </a:pPr>
            <a:r>
              <a:t>Watchlist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1E1E"/>
                </a:solidFill>
              </a:defRPr>
            </a:pPr>
            <a:r>
              <a:t>Top exposure LN0002300 ($23.3K ECL) needs immediate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• Implement automated daily ECL calculation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• Set up alerts for Stage 2/3 migrations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• Deploy AI-powered risk insights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• Create executive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